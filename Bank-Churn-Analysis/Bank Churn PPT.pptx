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05" r:id="rId5"/>
    <p:sldId id="308" r:id="rId6"/>
    <p:sldId id="306" r:id="rId7"/>
    <p:sldId id="319" r:id="rId8"/>
    <p:sldId id="320" r:id="rId9"/>
    <p:sldId id="321" r:id="rId10"/>
    <p:sldId id="325" r:id="rId11"/>
    <p:sldId id="326" r:id="rId12"/>
    <p:sldId id="3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2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3/22/2026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hyperlink" Target="https://github.com/vrundap7/Power_Bi_Projects/tree/52a96d58d2430a59423fb084dacacc14b98804c2/Bank-Churn-Analysis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linkedin.com/in/vrundap7?utm_source=share&amp;utm_campaign=share_via&amp;utm_content=profile&amp;utm_medium=android_app" TargetMode="External"/><Relationship Id="rId5" Type="http://schemas.openxmlformats.org/officeDocument/2006/relationships/hyperlink" Target="mailto:vrundaptl07@gmail.com" TargetMode="Externa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5916168"/>
            <a:ext cx="10479024" cy="557784"/>
          </a:xfrm>
        </p:spPr>
        <p:txBody>
          <a:bodyPr/>
          <a:lstStyle/>
          <a:p>
            <a:r>
              <a:rPr lang="en-IN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</a:t>
            </a: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sz="18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Vrunda Patel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2414016"/>
          </a:xfrm>
        </p:spPr>
        <p:txBody>
          <a:bodyPr/>
          <a:lstStyle/>
          <a:p>
            <a:pPr algn="ctr"/>
            <a:r>
              <a:rPr lang="en-IN" sz="6600" dirty="0">
                <a:latin typeface="Sitka Text Semibold" pitchFamily="2" charset="0"/>
              </a:rPr>
              <a:t>Bank Customer Churn </a:t>
            </a:r>
          </a:p>
          <a:p>
            <a:pPr algn="ctr"/>
            <a:r>
              <a:rPr lang="en-IN" sz="6600" dirty="0">
                <a:latin typeface="Sitka Text Semibold" pitchFamily="2" charset="0"/>
              </a:rPr>
              <a:t>Analysis</a:t>
            </a:r>
            <a:endParaRPr lang="en-US" sz="6600" dirty="0"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DAF-F207-3061-24D6-6AFF55241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IN" sz="2800" dirty="0"/>
              <a:t>Introduction</a:t>
            </a:r>
            <a:endParaRPr lang="en-US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94AC61-4F6E-98E2-D42B-F2114BBA12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6888" y="1618488"/>
            <a:ext cx="8394192" cy="4919472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sz="6800" dirty="0">
                <a:latin typeface="Sitka Text Semibold" pitchFamily="2" charset="0"/>
              </a:rPr>
              <a:t>Customer churn is a critical challenge in the banking industry, as losing customers directly impacts revenue and growth. This project focuses on analyzing customer data to identify patterns and key factors influencing churn.</a:t>
            </a:r>
          </a:p>
          <a:p>
            <a:pPr>
              <a:lnSpc>
                <a:spcPct val="120000"/>
              </a:lnSpc>
            </a:pPr>
            <a:r>
              <a:rPr lang="en-US" sz="6800" dirty="0">
                <a:latin typeface="Sitka Text Semibold" pitchFamily="2" charset="0"/>
              </a:rPr>
              <a:t>Using Power BI, an interactive dashboard has been developed to visualize customer behavior based on various dimensions such as </a:t>
            </a:r>
            <a:r>
              <a:rPr lang="en-US" sz="6800" b="1" dirty="0">
                <a:latin typeface="Sitka Text Semibold" pitchFamily="2" charset="0"/>
              </a:rPr>
              <a:t>credit score, age group, account balance, geography, and product usage</a:t>
            </a:r>
            <a:r>
              <a:rPr lang="en-US" sz="6800" dirty="0">
                <a:latin typeface="Sitka Text Semibold" pitchFamily="2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6800" dirty="0">
                <a:latin typeface="Sitka Text Semibold" pitchFamily="2" charset="0"/>
              </a:rPr>
              <a:t>The dataset includes customers from three regions : </a:t>
            </a:r>
            <a:r>
              <a:rPr lang="en-US" sz="6800" b="1" dirty="0">
                <a:latin typeface="Sitka Text Semibold" pitchFamily="2" charset="0"/>
              </a:rPr>
              <a:t>France, Germany, and Spain </a:t>
            </a:r>
            <a:r>
              <a:rPr lang="en-IN" sz="7200" dirty="0"/>
              <a:t>, </a:t>
            </a:r>
            <a:r>
              <a:rPr lang="en-IN" sz="7200" dirty="0">
                <a:latin typeface="Sitka Text Semibold" pitchFamily="2" charset="0"/>
              </a:rPr>
              <a:t>and covers</a:t>
            </a:r>
            <a:endParaRPr lang="en-US" sz="6800" dirty="0">
              <a:latin typeface="Sitka Text Semibold" pitchFamily="2" charset="0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6800" dirty="0">
                <a:latin typeface="Sitka Text Semibold" pitchFamily="2" charset="0"/>
              </a:rPr>
              <a:t>four product categories :  </a:t>
            </a:r>
            <a:r>
              <a:rPr lang="en-US" sz="6800" b="1" dirty="0">
                <a:latin typeface="Sitka Text Semibold" pitchFamily="2" charset="0"/>
              </a:rPr>
              <a:t>Prod1, Prod2, Prod3, and Prod4</a:t>
            </a:r>
            <a:r>
              <a:rPr lang="en-US" sz="6800" dirty="0">
                <a:latin typeface="Sitka Text Semibold" pitchFamily="2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6800" dirty="0">
                <a:latin typeface="Sitka Text Semibold" pitchFamily="2" charset="0"/>
              </a:rPr>
              <a:t>The main goal of this analysis is to: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6800" dirty="0">
                <a:latin typeface="Sitka Text Semibold" pitchFamily="2" charset="0"/>
              </a:rPr>
              <a:t>Identify high-risk customer segments 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sz="6800" dirty="0">
                <a:latin typeface="Sitka Text Semibold" pitchFamily="2" charset="0"/>
              </a:rPr>
              <a:t>Understand key drivers of churn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F9477-0E09-541A-1BEE-18EAF43FE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475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65276"/>
            <a:ext cx="5404104" cy="667512"/>
          </a:xfrm>
        </p:spPr>
        <p:txBody>
          <a:bodyPr/>
          <a:lstStyle/>
          <a:p>
            <a:r>
              <a:rPr lang="en-IN" sz="3200" dirty="0"/>
              <a:t>Objective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E9EBF14-5A01-9101-E014-1A032DECA54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23671" y="1399032"/>
            <a:ext cx="5577713" cy="4057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Analyze overall customer churn rate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Identify churn patterns by: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Age group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Credit score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Account balance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Geography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Product usage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Compare active vs non-active customers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Provide actionable insights to reduce churn </a:t>
            </a:r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B2E8-9759-2E11-C1D0-690B08E1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909E9-1B28-AED6-0CA7-89C315E5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664208"/>
            <a:ext cx="5404104" cy="667512"/>
          </a:xfrm>
        </p:spPr>
        <p:txBody>
          <a:bodyPr/>
          <a:lstStyle/>
          <a:p>
            <a:r>
              <a:rPr lang="en-IN" sz="3200" dirty="0"/>
              <a:t>Dataset Overview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640E1-7D14-7E75-140D-CC0D3DC227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5FC9771-256B-D0AD-917D-C62ADDD11C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07849" y="2201437"/>
            <a:ext cx="5577713" cy="3449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T</a:t>
            </a:r>
            <a:r>
              <a:rPr lang="en-US" sz="1800" dirty="0">
                <a:latin typeface="Sitka Text Semibold" pitchFamily="2" charset="0"/>
              </a:rPr>
              <a:t>otal Customers : </a:t>
            </a:r>
            <a:r>
              <a:rPr lang="en-US" sz="1800" b="1" dirty="0">
                <a:latin typeface="Sitka Text Semibold" pitchFamily="2" charset="0"/>
              </a:rPr>
              <a:t>10,000</a:t>
            </a:r>
            <a:r>
              <a:rPr lang="en-US" sz="1800" dirty="0">
                <a:latin typeface="Sitka Text Semibold" pitchFamily="2" charset="0"/>
              </a:rPr>
              <a:t> </a:t>
            </a:r>
          </a:p>
          <a:p>
            <a:r>
              <a:rPr lang="en-US" sz="1800" dirty="0">
                <a:latin typeface="Sitka Text Semibold" pitchFamily="2" charset="0"/>
              </a:rPr>
              <a:t>Active Customers : </a:t>
            </a:r>
            <a:r>
              <a:rPr lang="en-US" sz="1800" b="1" dirty="0">
                <a:latin typeface="Sitka Text Semibold" pitchFamily="2" charset="0"/>
              </a:rPr>
              <a:t>5,151</a:t>
            </a:r>
            <a:r>
              <a:rPr lang="en-US" sz="1800" dirty="0">
                <a:latin typeface="Sitka Text Semibold" pitchFamily="2" charset="0"/>
              </a:rPr>
              <a:t> </a:t>
            </a:r>
          </a:p>
          <a:p>
            <a:r>
              <a:rPr lang="en-US" sz="1800" dirty="0">
                <a:latin typeface="Sitka Text Semibold" pitchFamily="2" charset="0"/>
              </a:rPr>
              <a:t>Non-Active Customers : </a:t>
            </a:r>
            <a:r>
              <a:rPr lang="en-US" sz="1800" b="1" dirty="0">
                <a:latin typeface="Sitka Text Semibold" pitchFamily="2" charset="0"/>
              </a:rPr>
              <a:t>4,849</a:t>
            </a:r>
            <a:r>
              <a:rPr lang="en-US" sz="1800" dirty="0">
                <a:latin typeface="Sitka Text Semibold" pitchFamily="2" charset="0"/>
              </a:rPr>
              <a:t> </a:t>
            </a:r>
          </a:p>
          <a:p>
            <a:r>
              <a:rPr lang="en-US" sz="1800" dirty="0">
                <a:latin typeface="Sitka Text Semibold" pitchFamily="2" charset="0"/>
              </a:rPr>
              <a:t>Churn Rate : </a:t>
            </a:r>
            <a:r>
              <a:rPr lang="en-US" sz="1800" b="1" dirty="0">
                <a:latin typeface="Sitka Text Semibold" pitchFamily="2" charset="0"/>
              </a:rPr>
              <a:t>20.4%</a:t>
            </a:r>
            <a:r>
              <a:rPr lang="en-US" sz="1800" dirty="0">
                <a:latin typeface="Sitka Text Semibold" pitchFamily="2" charset="0"/>
              </a:rPr>
              <a:t> </a:t>
            </a:r>
          </a:p>
          <a:p>
            <a:r>
              <a:rPr lang="en-US" sz="1800" dirty="0">
                <a:latin typeface="Sitka Text Semibold" pitchFamily="2" charset="0"/>
              </a:rPr>
              <a:t>Average Balance : </a:t>
            </a:r>
            <a:r>
              <a:rPr lang="en-US" sz="1800" b="1" dirty="0">
                <a:latin typeface="Sitka Text Semibold" pitchFamily="2" charset="0"/>
              </a:rPr>
              <a:t>76.49K</a:t>
            </a:r>
            <a:r>
              <a:rPr lang="en-US" sz="1800" dirty="0">
                <a:latin typeface="Sitka Text Semibold" pitchFamily="2" charset="0"/>
              </a:rPr>
              <a:t> </a:t>
            </a:r>
          </a:p>
          <a:p>
            <a:r>
              <a:rPr lang="en-US" sz="1800" dirty="0">
                <a:latin typeface="Sitka Text Semibold" pitchFamily="2" charset="0"/>
              </a:rPr>
              <a:t>Products: Prod1, Prod2, Prod3, Prod4 </a:t>
            </a:r>
          </a:p>
          <a:p>
            <a:r>
              <a:rPr lang="en-US" sz="1800" dirty="0">
                <a:latin typeface="Sitka Text Semibold" pitchFamily="2" charset="0"/>
              </a:rPr>
              <a:t>Geography: France, Germany, Spain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58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93F5A-E4CD-FA73-2CE2-F961D70AC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D51F7-9A51-53B2-4607-7338F0D7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233" y="3275829"/>
            <a:ext cx="5404104" cy="667512"/>
          </a:xfrm>
        </p:spPr>
        <p:txBody>
          <a:bodyPr/>
          <a:lstStyle/>
          <a:p>
            <a:r>
              <a:rPr lang="en-IN" sz="3200" dirty="0"/>
              <a:t>Key Insights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B7568-606A-1D1A-7D94-3A6C90CA94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7D49C9B-096D-D808-6C49-994FDA2A58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71461" y="3555543"/>
            <a:ext cx="6299772" cy="1998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en-US" sz="1800" dirty="0">
                <a:latin typeface="Sitka Text Semibold" pitchFamily="2" charset="0"/>
              </a:rPr>
              <a:t>Customers with </a:t>
            </a:r>
            <a:r>
              <a:rPr lang="en-US" sz="1800" b="1" dirty="0">
                <a:latin typeface="Sitka Text Semibold" pitchFamily="2" charset="0"/>
              </a:rPr>
              <a:t>very low credit scores  (≤400)</a:t>
            </a:r>
            <a:r>
              <a:rPr lang="en-US" sz="1800" dirty="0">
                <a:latin typeface="Sitka Text Semibold" pitchFamily="2" charset="0"/>
              </a:rPr>
              <a:t> show extremely high churn </a:t>
            </a:r>
          </a:p>
          <a:p>
            <a:r>
              <a:rPr lang="en-US" sz="1800" dirty="0">
                <a:latin typeface="Sitka Text Semibold" pitchFamily="2" charset="0"/>
              </a:rPr>
              <a:t>Mid to high credit score groups have </a:t>
            </a:r>
            <a:r>
              <a:rPr lang="en-US" sz="1800" b="1" dirty="0">
                <a:latin typeface="Sitka Text Semibold" pitchFamily="2" charset="0"/>
              </a:rPr>
              <a:t>stable churn (~20%)</a:t>
            </a:r>
            <a:r>
              <a:rPr lang="en-US" sz="1800" dirty="0">
                <a:latin typeface="Sitka Text Semibold" pitchFamily="2" charset="0"/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83A1E22-9EB7-3317-E286-FF48C11F2A3C}"/>
              </a:ext>
            </a:extLst>
          </p:cNvPr>
          <p:cNvSpPr txBox="1">
            <a:spLocks/>
          </p:cNvSpPr>
          <p:nvPr/>
        </p:nvSpPr>
        <p:spPr>
          <a:xfrm>
            <a:off x="338328" y="632634"/>
            <a:ext cx="5404104" cy="667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Geography Insight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9CCE9-6707-A8CD-A4AD-A56B488BD7F0}"/>
              </a:ext>
            </a:extLst>
          </p:cNvPr>
          <p:cNvSpPr txBox="1"/>
          <p:nvPr/>
        </p:nvSpPr>
        <p:spPr>
          <a:xfrm>
            <a:off x="1268857" y="1291306"/>
            <a:ext cx="6094476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Germany has highest churn (32.4%)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Sitka Text Semibold" pitchFamily="2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France &amp; Spain are relatively stable</a:t>
            </a:r>
          </a:p>
        </p:txBody>
      </p:sp>
    </p:spTree>
    <p:extLst>
      <p:ext uri="{BB962C8B-B14F-4D97-AF65-F5344CB8AC3E}">
        <p14:creationId xmlns:p14="http://schemas.microsoft.com/office/powerpoint/2010/main" val="374559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F240B-7791-2773-54A4-94D55357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7255-6B3A-26FF-9E75-33435F275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" y="731944"/>
            <a:ext cx="5330952" cy="766278"/>
          </a:xfrm>
        </p:spPr>
        <p:txBody>
          <a:bodyPr/>
          <a:lstStyle/>
          <a:p>
            <a:r>
              <a:rPr lang="en-IN" sz="3200" dirty="0"/>
              <a:t>Credit Score Insight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91D67-021E-9E29-D87D-DC9E9D109D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BF1BCDA-272B-C0C8-CF50-BD57064C340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84632" y="1413438"/>
            <a:ext cx="7123176" cy="1669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 Customers with very low credit scores (≤400)    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solidFill>
                  <a:schemeClr val="tx1"/>
                </a:solidFill>
                <a:latin typeface="Sitka Text Semibold" pitchFamily="2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show extremely high churn</a:t>
            </a: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 Mid to high credit score groups have stable </a:t>
            </a:r>
            <a:r>
              <a:rPr lang="en-US" altLang="en-US" sz="1800" dirty="0">
                <a:solidFill>
                  <a:schemeClr val="tx1"/>
                </a:solidFill>
                <a:latin typeface="Sitka Text Semibold" pitchFamily="2" charset="0"/>
              </a:rPr>
              <a:t>churn (~20%)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Text Semibold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8AA583-4BEB-7279-2FA4-9B0BED9DCE55}"/>
              </a:ext>
            </a:extLst>
          </p:cNvPr>
          <p:cNvSpPr txBox="1">
            <a:spLocks/>
          </p:cNvSpPr>
          <p:nvPr/>
        </p:nvSpPr>
        <p:spPr>
          <a:xfrm>
            <a:off x="298704" y="3764620"/>
            <a:ext cx="5404104" cy="6675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/>
              <a:t>Balance Insight</a:t>
            </a:r>
            <a:endParaRPr lang="en-US" sz="32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66A57A6-E65D-EB16-65B9-F8F55C074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552" y="4217426"/>
            <a:ext cx="7315200" cy="1150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7472" indent="-347472" algn="l" defTabSz="914400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Sitka Text Semibold" pitchFamily="2" charset="0"/>
              </a:rPr>
              <a:t> Customers with 1k–10k balance → 100% churn (very risky)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Sitka Text Semibold" pitchFamily="2" charset="0"/>
              </a:rPr>
              <a:t> High balance (&gt;200k) also shows high churn (~55.9%)</a:t>
            </a:r>
          </a:p>
        </p:txBody>
      </p:sp>
    </p:spTree>
    <p:extLst>
      <p:ext uri="{BB962C8B-B14F-4D97-AF65-F5344CB8AC3E}">
        <p14:creationId xmlns:p14="http://schemas.microsoft.com/office/powerpoint/2010/main" val="314084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F9FA7-1195-3684-4133-B940A3E1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9EE0-7484-CBB3-749A-A20B6BEB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856419"/>
            <a:ext cx="5404104" cy="667512"/>
          </a:xfrm>
        </p:spPr>
        <p:txBody>
          <a:bodyPr/>
          <a:lstStyle/>
          <a:p>
            <a:r>
              <a:rPr lang="en-IN" sz="3200" dirty="0"/>
              <a:t>Age Group Insight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2A21-7D86-A66D-4F6F-85909A3A96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04C2E08-9FF3-E154-7DF9-D29EFE2E3F6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38912" y="1103597"/>
            <a:ext cx="5824727" cy="140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Highest churn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age 51–60 (56.2%)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Younger customers (&lt;30)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low churn (~7%)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itka Text Semibold" pitchFamily="2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63DB97-AAA8-13AD-23B1-1BD50591F80D}"/>
              </a:ext>
            </a:extLst>
          </p:cNvPr>
          <p:cNvSpPr txBox="1"/>
          <p:nvPr/>
        </p:nvSpPr>
        <p:spPr>
          <a:xfrm>
            <a:off x="434340" y="3213272"/>
            <a:ext cx="52852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+mj-lt"/>
              </a:rPr>
              <a:t>Product Insight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15E296-8CAD-4F3D-16AD-C2326B000281}"/>
              </a:ext>
            </a:extLst>
          </p:cNvPr>
          <p:cNvSpPr txBox="1"/>
          <p:nvPr/>
        </p:nvSpPr>
        <p:spPr>
          <a:xfrm>
            <a:off x="603504" y="3840314"/>
            <a:ext cx="5285232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itka Text Semibold" pitchFamily="2" charset="0"/>
              </a:rPr>
              <a:t>Prod1 &amp; Prod2 have highest customer base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Sitka Text Semibold" pitchFamily="2" charset="0"/>
              </a:rPr>
              <a:t>Prod3 &amp; Prod4 have fewer customers but noticeable churn </a:t>
            </a:r>
          </a:p>
        </p:txBody>
      </p:sp>
    </p:spTree>
    <p:extLst>
      <p:ext uri="{BB962C8B-B14F-4D97-AF65-F5344CB8AC3E}">
        <p14:creationId xmlns:p14="http://schemas.microsoft.com/office/powerpoint/2010/main" val="107902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F7F5-0C14-B075-9C1A-9F4EF9417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09E0-5154-081F-ACEA-7F11A9E03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6" y="1051560"/>
            <a:ext cx="5404104" cy="667512"/>
          </a:xfrm>
        </p:spPr>
        <p:txBody>
          <a:bodyPr/>
          <a:lstStyle/>
          <a:p>
            <a:r>
              <a:rPr lang="en-IN" sz="3200" dirty="0"/>
              <a:t>Conclusion 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C33B2-F99D-9904-984A-0439249D8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9567F22-0C36-FFCD-E843-10FD08675A9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551817" y="1405597"/>
            <a:ext cx="8647047" cy="497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dirty="0">
                <a:latin typeface="Sitka Text Semibold" pitchFamily="2" charset="0"/>
              </a:rPr>
              <a:t>Customer churn is influenced by key factors such as age, credit score, balance, and geography.</a:t>
            </a:r>
          </a:p>
          <a:p>
            <a:r>
              <a:rPr lang="en-US" sz="1800" dirty="0">
                <a:latin typeface="Sitka Text Semibold" pitchFamily="2" charset="0"/>
              </a:rPr>
              <a:t>Customers aged 51–60 and those with low credit scores show the highest churn risk.</a:t>
            </a:r>
          </a:p>
          <a:p>
            <a:r>
              <a:rPr lang="en-US" sz="1800" dirty="0">
                <a:latin typeface="Sitka Text Semibold" pitchFamily="2" charset="0"/>
              </a:rPr>
              <a:t>Germany has the highest churn rate, indicating possible regional challenges.</a:t>
            </a:r>
          </a:p>
          <a:p>
            <a:r>
              <a:rPr lang="en-US" sz="1800" dirty="0">
                <a:latin typeface="Sitka Text Semibold" pitchFamily="2" charset="0"/>
              </a:rPr>
              <a:t>Both low and high balance customers require better engagement strategies.</a:t>
            </a:r>
          </a:p>
          <a:p>
            <a:r>
              <a:rPr lang="en-US" sz="1800" dirty="0">
                <a:latin typeface="Sitka Text Semibold" pitchFamily="2" charset="0"/>
              </a:rPr>
              <a:t>Churn is observed across all products, highlighting the need for overall service improvement.</a:t>
            </a:r>
          </a:p>
          <a:p>
            <a:r>
              <a:rPr lang="en-US" sz="1800" dirty="0">
                <a:latin typeface="Sitka Text Semibold" pitchFamily="2" charset="0"/>
              </a:rPr>
              <a:t>These insights help the bank take proactive steps to improve customer retention and growth.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65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5"/>
            <a:ext cx="8842253" cy="1316736"/>
          </a:xfrm>
        </p:spPr>
        <p:txBody>
          <a:bodyPr/>
          <a:lstStyle/>
          <a:p>
            <a:r>
              <a:rPr lang="en-IN" dirty="0"/>
              <a:t>Thank You 😊</a:t>
            </a:r>
            <a:endParaRPr lang="en-US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38FA429-7E11-EEB6-B682-C8F20CFC7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91" y="3429000"/>
            <a:ext cx="460592" cy="46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4A083218-5EA0-5FAC-9B4B-7249D5F72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91" y="4001080"/>
            <a:ext cx="460592" cy="46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FD818973-0B88-2950-5FDD-967B0A0BA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91" y="4573160"/>
            <a:ext cx="460592" cy="460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61BC9D-7493-FB67-DA18-6EB9B27A4AF1}"/>
              </a:ext>
            </a:extLst>
          </p:cNvPr>
          <p:cNvSpPr txBox="1"/>
          <p:nvPr/>
        </p:nvSpPr>
        <p:spPr>
          <a:xfrm>
            <a:off x="2171700" y="3429000"/>
            <a:ext cx="3543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>
                    <a:lumMod val="95000"/>
                  </a:schemeClr>
                </a:solidFill>
                <a:latin typeface="Sitka Text Semibold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vrundaptl07@gmail.com</a:t>
            </a:r>
            <a:endParaRPr lang="en-IN" sz="2000" b="1" dirty="0">
              <a:solidFill>
                <a:schemeClr val="bg1">
                  <a:lumMod val="95000"/>
                </a:schemeClr>
              </a:solidFill>
              <a:latin typeface="Sitka Text Semibold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062EE-FE66-DA78-C2FE-BA6F36EDD5CC}"/>
              </a:ext>
            </a:extLst>
          </p:cNvPr>
          <p:cNvSpPr txBox="1"/>
          <p:nvPr/>
        </p:nvSpPr>
        <p:spPr>
          <a:xfrm>
            <a:off x="2171700" y="4001080"/>
            <a:ext cx="315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Sitka Text Semibold" pitchFamily="2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Vrunda Patel</a:t>
            </a:r>
            <a:endParaRPr lang="en-IN" sz="2000" dirty="0">
              <a:solidFill>
                <a:schemeClr val="bg1">
                  <a:lumMod val="95000"/>
                </a:schemeClr>
              </a:solidFill>
              <a:latin typeface="Sitka Text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4C8070-19B3-12DF-EC46-607A533B1C34}"/>
              </a:ext>
            </a:extLst>
          </p:cNvPr>
          <p:cNvSpPr txBox="1"/>
          <p:nvPr/>
        </p:nvSpPr>
        <p:spPr>
          <a:xfrm>
            <a:off x="2171700" y="4666295"/>
            <a:ext cx="31592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>
                    <a:lumMod val="95000"/>
                  </a:schemeClr>
                </a:solidFill>
                <a:latin typeface="Sitka Text Semibold" pitchFamily="2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Vrundap07</a:t>
            </a:r>
            <a:endParaRPr lang="en-IN" sz="2000" dirty="0">
              <a:solidFill>
                <a:schemeClr val="bg1">
                  <a:lumMod val="95000"/>
                </a:schemeClr>
              </a:solidFill>
              <a:latin typeface="Sitka Tex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55</TotalTime>
  <Words>461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Light</vt:lpstr>
      <vt:lpstr>Arial</vt:lpstr>
      <vt:lpstr>Calibri</vt:lpstr>
      <vt:lpstr>Corbel</vt:lpstr>
      <vt:lpstr>Sitka Text Semibold</vt:lpstr>
      <vt:lpstr>Custom</vt:lpstr>
      <vt:lpstr>Presented by: Vrunda Patel</vt:lpstr>
      <vt:lpstr>Introduction</vt:lpstr>
      <vt:lpstr>Objective</vt:lpstr>
      <vt:lpstr>Dataset Overview</vt:lpstr>
      <vt:lpstr>Key Insights</vt:lpstr>
      <vt:lpstr>Credit Score Insight</vt:lpstr>
      <vt:lpstr>Age Group Insight</vt:lpstr>
      <vt:lpstr>Conclusion </vt:lpstr>
      <vt:lpstr>Thank You 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Vrunda Patel</dc:creator>
  <cp:lastModifiedBy>Vrunda Patel</cp:lastModifiedBy>
  <cp:revision>1</cp:revision>
  <dcterms:created xsi:type="dcterms:W3CDTF">2026-03-22T05:20:40Z</dcterms:created>
  <dcterms:modified xsi:type="dcterms:W3CDTF">2026-03-22T06:15:44Z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